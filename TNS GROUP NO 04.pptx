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1" r:id="rId4"/>
    <p:sldId id="272" r:id="rId5"/>
    <p:sldId id="270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69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jVbKSE3o/eYBIKbAgkcIW7PGNB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2" d="100"/>
          <a:sy n="62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3999" y="452063"/>
            <a:ext cx="9941961" cy="437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>
              <a:lnSpc>
                <a:spcPct val="200000"/>
              </a:lnSpc>
              <a:buClr>
                <a:srgbClr val="0C3571"/>
              </a:buClr>
              <a:buSzPts val="2800"/>
            </a:pPr>
            <a:br>
              <a:rPr lang="en-US" sz="2800" b="1" dirty="0">
                <a:solidFill>
                  <a:srgbClr val="0C3571"/>
                </a:solidFill>
                <a:latin typeface="Anta"/>
                <a:ea typeface="Anta"/>
                <a:cs typeface="Anta"/>
                <a:sym typeface="Anta"/>
              </a:rPr>
            </a:br>
            <a:br>
              <a:rPr lang="en-US" sz="2800" b="1" dirty="0">
                <a:solidFill>
                  <a:srgbClr val="0C3571"/>
                </a:solidFill>
                <a:latin typeface="Anta"/>
                <a:ea typeface="Anta"/>
                <a:cs typeface="Anta"/>
                <a:sym typeface="Anta"/>
              </a:rPr>
            </a:br>
            <a:br>
              <a:rPr lang="en-US" sz="2800" b="1" dirty="0">
                <a:solidFill>
                  <a:srgbClr val="0C3571"/>
                </a:solidFill>
                <a:latin typeface="Anta"/>
                <a:ea typeface="Anta"/>
                <a:cs typeface="Anta"/>
                <a:sym typeface="Anta"/>
              </a:rPr>
            </a:br>
            <a:br>
              <a:rPr lang="en-US" sz="2800" b="1" dirty="0">
                <a:solidFill>
                  <a:srgbClr val="0C3571"/>
                </a:solidFill>
                <a:latin typeface="Anta"/>
                <a:ea typeface="Anta"/>
                <a:cs typeface="Anta"/>
                <a:sym typeface="Anta"/>
              </a:rPr>
            </a:br>
            <a:br>
              <a:rPr lang="en-US" sz="2800" b="1" dirty="0">
                <a:solidFill>
                  <a:srgbClr val="0C3571"/>
                </a:solidFill>
                <a:latin typeface="Anta"/>
                <a:ea typeface="Anta"/>
                <a:cs typeface="Anta"/>
                <a:sym typeface="Anta"/>
              </a:rPr>
            </a:br>
            <a:br>
              <a:rPr lang="en-US" sz="2800" b="1" dirty="0">
                <a:solidFill>
                  <a:srgbClr val="0C3571"/>
                </a:solidFill>
                <a:latin typeface="Anta"/>
                <a:ea typeface="Anta"/>
                <a:cs typeface="Anta"/>
                <a:sym typeface="Anta"/>
              </a:rPr>
            </a:br>
            <a:r>
              <a:rPr lang="en-US" sz="4400" b="1" dirty="0">
                <a:solidFill>
                  <a:srgbClr val="0C35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Capstone Project 2</a:t>
            </a:r>
            <a:br>
              <a:rPr lang="en-US" sz="4400" b="1" dirty="0">
                <a:solidFill>
                  <a:srgbClr val="0C35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HEART DISEASE DETECTION USING CLASSIFICATION ALGORITHMS</a:t>
            </a:r>
            <a:br>
              <a:rPr lang="en-US" sz="2400" b="1" dirty="0"/>
            </a:br>
            <a:endParaRPr lang="en-US" sz="2400" b="1" dirty="0">
              <a:solidFill>
                <a:srgbClr val="0C35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C3571"/>
              </a:buClr>
              <a:buSzPts val="2800"/>
              <a:buFont typeface="Anta"/>
              <a:buNone/>
            </a:pPr>
            <a:endParaRPr sz="2300" b="1" dirty="0">
              <a:solidFill>
                <a:srgbClr val="0C357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C3571"/>
              </a:buClr>
              <a:buSzPts val="2800"/>
              <a:buFont typeface="Anta"/>
              <a:buNone/>
            </a:pPr>
            <a:br>
              <a:rPr lang="en-IN" sz="1400" b="1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 dirty="0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8605201" y="3429000"/>
            <a:ext cx="4125600" cy="3293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0" i="0" u="none" strike="noStrike" cap="none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T170800523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sz="1800" dirty="0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IN" sz="1800" dirty="0" err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Vansh</a:t>
            </a:r>
            <a:r>
              <a:rPr lang="en-IN" sz="1800" dirty="0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800" dirty="0" err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Jingar</a:t>
            </a:r>
            <a:endParaRPr sz="1800" dirty="0">
              <a:solidFill>
                <a:schemeClr val="accent1">
                  <a:lumMod val="75000"/>
                </a:schemeClr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T170800518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sz="1800" dirty="0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Shruti </a:t>
            </a:r>
            <a:r>
              <a:rPr lang="en-IN" sz="1800" dirty="0" err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Lokhande</a:t>
            </a:r>
            <a:endParaRPr sz="1800" dirty="0">
              <a:solidFill>
                <a:schemeClr val="accent1">
                  <a:lumMod val="75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T170800534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sz="1800" dirty="0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Saloni Jadhav</a:t>
            </a:r>
            <a:endParaRPr sz="1800" dirty="0">
              <a:solidFill>
                <a:schemeClr val="accent1">
                  <a:lumMod val="75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T170800539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sz="1800" dirty="0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Amruta Kadam </a:t>
            </a:r>
            <a:endParaRPr sz="1800" dirty="0">
              <a:solidFill>
                <a:schemeClr val="accent1">
                  <a:lumMod val="75000"/>
                </a:schemeClr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T170800528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sz="1800" dirty="0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IN" sz="1800" dirty="0" err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Sumit</a:t>
            </a:r>
            <a:r>
              <a:rPr lang="en-IN" sz="1800" dirty="0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800" dirty="0" err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Barkade</a:t>
            </a:r>
            <a:r>
              <a:rPr lang="en-IN" sz="1800" dirty="0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 dirty="0">
              <a:solidFill>
                <a:schemeClr val="accent1">
                  <a:lumMod val="75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T170800527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sz="1800" dirty="0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Arya </a:t>
            </a:r>
            <a:r>
              <a:rPr lang="en-IN" sz="1800" dirty="0" err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Gondhali</a:t>
            </a:r>
            <a:endParaRPr sz="1800" dirty="0">
              <a:solidFill>
                <a:schemeClr val="accent1">
                  <a:lumMod val="75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32571" y="304800"/>
            <a:ext cx="1578429" cy="105591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/>
        </p:nvSpPr>
        <p:spPr>
          <a:xfrm>
            <a:off x="925286" y="566057"/>
            <a:ext cx="10417500" cy="5201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Table of Contents</a:t>
            </a:r>
            <a:endParaRPr sz="32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tx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800"/>
              <a:buFont typeface="Arial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Problem Statement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800"/>
              <a:buFont typeface="Arial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Overview of the Project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800"/>
              <a:buFont typeface="Arial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Data generation &amp; Loading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800"/>
              <a:buFont typeface="Arial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Data Exploration &amp; Understanding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800"/>
              <a:buFont typeface="Arial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Exploratory Data Analysis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800"/>
              <a:buFont typeface="Arial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Data </a:t>
            </a:r>
            <a:r>
              <a:rPr lang="en-IN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Preprocessing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&amp; Feature Engineering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800"/>
              <a:buFont typeface="Arial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Model Building &amp; Training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800"/>
              <a:buFont typeface="Arial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Model Evaluation &amp; Performance Analysis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800"/>
              <a:buFont typeface="Arial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Stream API Deployment (</a:t>
            </a:r>
            <a:r>
              <a:rPr lang="en-IN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Streamlit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)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800"/>
              <a:buFont typeface="Arial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Docker Deployment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800"/>
              <a:buFont typeface="Arial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Conclusion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tx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93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32571" y="304800"/>
            <a:ext cx="1578429" cy="1055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475FC-C31B-2F79-08BE-291850873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E0946-1F7F-C11E-9C19-8EBF218E9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87" y="1690688"/>
            <a:ext cx="10515600" cy="4351338"/>
          </a:xfrm>
        </p:spPr>
        <p:txBody>
          <a:bodyPr>
            <a:normAutofit/>
          </a:bodyPr>
          <a:lstStyle/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Heart disease is one of the leading causes of death worldwide. Early detection can help improve patient outcomes and reduce healthcare costs.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diagnosis may require several medical tests and expert analysis. Machine learning can analyze patient information and identify patterns associated with heart disease.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develop classification models using demographic, clinical, and diagnostic data to predict whether a patient has heart disease.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support healthcare professionals in making timely and informed decisions. However, it is not a replacement for professional medical diagnosis.</a:t>
            </a:r>
          </a:p>
          <a:p>
            <a:pPr marL="114300" indent="0">
              <a:buNone/>
            </a:pPr>
            <a:endParaRPr lang="en-US" sz="2200" dirty="0"/>
          </a:p>
        </p:txBody>
      </p:sp>
      <p:pic>
        <p:nvPicPr>
          <p:cNvPr id="4" name="Google Shape;171;p14">
            <a:extLst>
              <a:ext uri="{FF2B5EF4-FFF2-40B4-BE49-F238E27FC236}">
                <a16:creationId xmlns:a16="http://schemas.microsoft.com/office/drawing/2014/main" id="{B1C31E11-9C80-8157-29A3-1F3B4A6BD20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32571" y="113414"/>
            <a:ext cx="1578429" cy="10559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6177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C4673-1A9B-E266-3F40-B0F6E8A1A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Overview of the Project</a:t>
            </a:r>
            <a:br>
              <a:rPr lang="en-IN" sz="3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endParaRPr lang="en-US" sz="3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E835C-9DFE-3B03-8A29-9324A62E1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168" y="1571830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431800" indent="-342900" algn="just">
              <a:buClr>
                <a:srgbClr val="0C357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supervised machine learning to predict the presence of heart disease from patient data.</a:t>
            </a:r>
          </a:p>
          <a:p>
            <a:pPr marL="431800" indent="-342900" algn="just">
              <a:buClr>
                <a:srgbClr val="0C357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400 patient records.</a:t>
            </a:r>
          </a:p>
          <a:p>
            <a:pPr marL="431800" indent="-342900" algn="just">
              <a:buClr>
                <a:srgbClr val="0C357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includes 13 input features and one target variable.</a:t>
            </a:r>
          </a:p>
          <a:p>
            <a:pPr marL="431800" indent="-342900" algn="just">
              <a:buClr>
                <a:srgbClr val="0C357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 classification algorithms are used: Decision Tree, Random Forest, Logistic Regression, and Support Vector Machine (SVM).</a:t>
            </a:r>
          </a:p>
          <a:p>
            <a:pPr marL="431800" indent="-342900" algn="just">
              <a:buClr>
                <a:srgbClr val="0C357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divided into 80% training data and 20% testing data.</a:t>
            </a:r>
          </a:p>
          <a:p>
            <a:pPr marL="431800" indent="-342900" algn="just">
              <a:buClr>
                <a:srgbClr val="0C357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is evaluated using classification metrics.</a:t>
            </a:r>
          </a:p>
          <a:p>
            <a:pPr marL="431800" indent="-342900" algn="just">
              <a:buClr>
                <a:srgbClr val="0C357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Docker are included in the planned deployment process.</a:t>
            </a:r>
          </a:p>
          <a:p>
            <a:pPr marL="431800" indent="-342900" algn="just">
              <a:buClr>
                <a:srgbClr val="0C357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main goal is to compare the models and identify a suitable approach for heart disease prediction.</a:t>
            </a:r>
          </a:p>
          <a:p>
            <a:endParaRPr lang="en-US" dirty="0"/>
          </a:p>
        </p:txBody>
      </p:sp>
      <p:pic>
        <p:nvPicPr>
          <p:cNvPr id="4" name="Google Shape;171;p14">
            <a:extLst>
              <a:ext uri="{FF2B5EF4-FFF2-40B4-BE49-F238E27FC236}">
                <a16:creationId xmlns:a16="http://schemas.microsoft.com/office/drawing/2014/main" id="{758AFDD7-DDFC-CBD4-A620-3CEB90E39B8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32571" y="113414"/>
            <a:ext cx="1578429" cy="10559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33067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36DA4-79E2-738E-D3B5-B32B83E90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Data generation &amp; Loading</a:t>
            </a:r>
            <a:br>
              <a:rPr lang="en-IN" sz="3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68D14-0325-F1BB-D479-23B7DC0D9C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Name: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heart_disease_dataset.csv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Records: 400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Columns: 14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 Features: 13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heart_disease</a:t>
            </a: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Type: Numerical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Values: 0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Duplicate Records: 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 Classes: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 – No Heart Disease: 178 records (44.5%)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– Heart Disease: 222 records (55.5%)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patient demographic, clinical, and diagnostic information for heart disease classification</a:t>
            </a:r>
            <a:endParaRPr lang="en-US" sz="2200" dirty="0"/>
          </a:p>
        </p:txBody>
      </p:sp>
      <p:pic>
        <p:nvPicPr>
          <p:cNvPr id="6" name="Google Shape;105;p4">
            <a:extLst>
              <a:ext uri="{FF2B5EF4-FFF2-40B4-BE49-F238E27FC236}">
                <a16:creationId xmlns:a16="http://schemas.microsoft.com/office/drawing/2014/main" id="{EDD515FB-2BDF-826A-2189-492AD2F3035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32571" y="253429"/>
            <a:ext cx="1578429" cy="10559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8525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7FFDA-8EEE-3D97-E01A-C200313F6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Loading and Dataset Details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C9FEA-398A-F2E2-8A10-C0AA47F72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5733" y="1342739"/>
            <a:ext cx="10515600" cy="5356011"/>
          </a:xfrm>
        </p:spPr>
        <p:txBody>
          <a:bodyPr>
            <a:no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2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685800" indent="-6858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Heart Disease Dataset (heart_disease_dataset.csv) containing numerical patient health records for heart disease classification.</a:t>
            </a:r>
          </a:p>
          <a:p>
            <a:pPr marL="685800" indent="-6858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Size &amp; Target: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400 records with 14 columns, including 13 input features and the target variable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heart_disease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85800" indent="-6858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– Demographic: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Age and Sex.</a:t>
            </a:r>
          </a:p>
          <a:p>
            <a:pPr marL="685800" indent="-6858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Clinical Features: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Chest Pain Type, Resting Blood Pressure, Cholesterol, and Fasting Blood Sugar.</a:t>
            </a:r>
          </a:p>
          <a:p>
            <a:pPr marL="685800" indent="-6858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Diagnostic Features: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Resting ECG, Maximum Heart Rate, Exercise-Induced Angina, ST Depression, ST Slope, Number of Major Vessels, and Thalassemia.</a:t>
            </a:r>
          </a:p>
          <a:p>
            <a:pPr marL="685800" indent="-6858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heart_disease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0 represents No Heart Disease and 1 represents Heart Disease.</a:t>
            </a:r>
          </a:p>
          <a:p>
            <a:pPr marL="685800" indent="-6858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Quality: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 missing values and no duplicate records.</a:t>
            </a:r>
          </a:p>
          <a:p>
            <a:pPr algn="just"/>
            <a:endParaRPr lang="en-US" sz="2200" dirty="0"/>
          </a:p>
        </p:txBody>
      </p:sp>
      <p:pic>
        <p:nvPicPr>
          <p:cNvPr id="4" name="Google Shape;171;p14">
            <a:extLst>
              <a:ext uri="{FF2B5EF4-FFF2-40B4-BE49-F238E27FC236}">
                <a16:creationId xmlns:a16="http://schemas.microsoft.com/office/drawing/2014/main" id="{6EA18621-7AB4-D51A-D323-DCF6C6874E9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32571" y="113414"/>
            <a:ext cx="1578429" cy="10559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6955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F1EBE-651C-C95F-6D12-984C9D2C8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Exploration and Understanding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3958862-45C7-B63A-908B-BEE5FEB5EA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4327" y="1312198"/>
            <a:ext cx="10583346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400 records and 14 columns.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includes 13 input features and one target variable.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missing values were found.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duplicate rows were found.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average patient age is approximately 53.67 years.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average cholesterol value is approximately 216.63.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target column contains 178 records labelled 0 and 222 records labelled 1.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ready for exploratory analysis and model training.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observations describe the uploaded dataset; they do not establish clinical conclusions.</a:t>
            </a:r>
          </a:p>
        </p:txBody>
      </p:sp>
      <p:pic>
        <p:nvPicPr>
          <p:cNvPr id="6" name="Google Shape;171;p14">
            <a:extLst>
              <a:ext uri="{FF2B5EF4-FFF2-40B4-BE49-F238E27FC236}">
                <a16:creationId xmlns:a16="http://schemas.microsoft.com/office/drawing/2014/main" id="{F5E08D70-7786-6886-ECF7-CBADCD790EC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32571" y="113414"/>
            <a:ext cx="1578429" cy="10559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8214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A573B-4F43-78C9-C63C-17D05274E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234" y="267129"/>
            <a:ext cx="10575532" cy="1418814"/>
          </a:xfrm>
        </p:spPr>
        <p:txBody>
          <a:bodyPr>
            <a:normAutofit/>
          </a:bodyPr>
          <a:lstStyle/>
          <a:p>
            <a:r>
              <a:rPr lang="en-IN" sz="3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Exploratory Data Analysis</a:t>
            </a:r>
            <a:br>
              <a:rPr lang="en-IN" sz="3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0155A4-99CC-54B5-88AD-75C3B55D36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0119" y="1213009"/>
            <a:ext cx="10055958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Histograms – Examine the distribution of age, cholesterol, and blood pressure.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Count Plots – Visualize the two heart disease classes.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Correlation Matrix – Study relationships between numerical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Analysis – Examine chest pain type, maximum heart rate, and ST depression.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 Distribution – Compare the number of positive and negative target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Observed Findings: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55.5% of records belong to class 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44.5% of records belong to class 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dataset contains no missing or duplicate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Further feature relationships can be explored using correlation and comparison plots.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Google Shape;171;p14">
            <a:extLst>
              <a:ext uri="{FF2B5EF4-FFF2-40B4-BE49-F238E27FC236}">
                <a16:creationId xmlns:a16="http://schemas.microsoft.com/office/drawing/2014/main" id="{BF51E7BC-F54D-A227-6F9A-FBB66A22419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32571" y="113414"/>
            <a:ext cx="1578429" cy="10559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4998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A0A3C-9F2A-9715-A286-9E67A4A2F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800"/>
              <a:buFont typeface="Arial"/>
              <a:buChar char="•"/>
            </a:pPr>
            <a:r>
              <a:rPr lang="en-IN" sz="3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Data Pre-processing &amp; Feature Engineering</a:t>
            </a:r>
            <a:endParaRPr lang="en-IN" sz="30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5C5FB89-0BCE-3811-1F5B-522001E08C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246695"/>
            <a:ext cx="10042133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Checked the dataset for missing values and duplicate records; none were found.</a:t>
            </a:r>
          </a:p>
          <a:p>
            <a:pPr marL="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Selected 13 input features related to patient health for classification.</a:t>
            </a:r>
          </a:p>
          <a:p>
            <a:pPr marL="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 Encoding: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target variable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heart_disease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uses 0 for No Heart Disease and 1 for Heart Disease.</a:t>
            </a:r>
          </a:p>
          <a:p>
            <a:pPr marL="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Splitting: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Divided the dataset into 80% training data and 20% testing data.</a:t>
            </a:r>
          </a:p>
          <a:p>
            <a:pPr marL="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Preparation: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Prepared numerical features for use by machine learning algorithms.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Steps: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Maintained all 13 input features.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Separated input features (X) and target variable (y).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Used training data to build models and testing data to evaluate performance.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171;p14">
            <a:extLst>
              <a:ext uri="{FF2B5EF4-FFF2-40B4-BE49-F238E27FC236}">
                <a16:creationId xmlns:a16="http://schemas.microsoft.com/office/drawing/2014/main" id="{4CE6742F-E043-16D4-38C1-DE99EE27170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32571" y="113414"/>
            <a:ext cx="1578429" cy="10559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7264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F488F-CC42-AACE-74F7-B4AFBFD41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Model Building &amp; Training</a:t>
            </a:r>
            <a:br>
              <a:rPr lang="en-IN" sz="3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E82DD89-88CA-BBE6-B69F-64AF4B895C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359172"/>
            <a:ext cx="10031858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Four machine learning classification algorithms were selected for heart disease prediction.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Classifies patients using decision rules based on health features.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Combines multiple decision trees to improve prediction performance.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Predicts the probability of heart disease using input features.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Classifies patients by finding an optimal decision boundary.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Training: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80% of the dataset for training.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20% of the dataset for testing.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Trained each model using the selected patient health features.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Compared model performance using evaluation metrics.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Google Shape;171;p14">
            <a:extLst>
              <a:ext uri="{FF2B5EF4-FFF2-40B4-BE49-F238E27FC236}">
                <a16:creationId xmlns:a16="http://schemas.microsoft.com/office/drawing/2014/main" id="{E7805925-EC02-2540-22EB-EF6C13596FD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32571" y="113414"/>
            <a:ext cx="1578429" cy="10559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49403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BA5B1-282E-B7A2-AD00-830A5D8FE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Model Evaluation &amp; Performance Analysis</a:t>
            </a:r>
            <a:br>
              <a:rPr lang="en-IN" sz="3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559092C-DC40-F73E-17EB-8A99FD747C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24768" y="1348898"/>
            <a:ext cx="9682953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Models were evaluated using Accuracy, Precision, Recall, F1-Score, and ROC-AUC.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Accuracy – 57.50%; Recall – 68.18%.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Accuracy – 66.25%; Recall – 75.00%.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Accuracy – 67.50%; Recall – 72.73%.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Accuracy – 65.00%; Recall – 70.45%.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Logistic Regression achieved the highest accuracy (67.50%).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Random Forest achieved the highest recall (75.00%).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Logistic Regression and Random Forest showed competitive performance.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These results are based on one 80:20 train-test split and require further validation before any medical use.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Google Shape;171;p14">
            <a:extLst>
              <a:ext uri="{FF2B5EF4-FFF2-40B4-BE49-F238E27FC236}">
                <a16:creationId xmlns:a16="http://schemas.microsoft.com/office/drawing/2014/main" id="{E46FA1AB-6171-B282-EA2A-F54BEB6D236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32571" y="113414"/>
            <a:ext cx="1578429" cy="10559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99974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4E627-87E0-51FF-9B8E-6347F9B47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API Deployment</a:t>
            </a:r>
            <a:b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DFE17-FADB-9BEF-B00D-F8BE42AB7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17400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Tool: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create a simple web interface for heart disease prediction.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enter the required patient health features.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Prediction: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trained machine learning model processes the input data and predicts the result.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the predicted class: No Heart Disease or Heart Disease.</a:t>
            </a:r>
          </a:p>
          <a:p>
            <a:pPr marL="11430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user-friendly interface.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prediction for entered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the trained model with the web application.</a:t>
            </a:r>
          </a:p>
          <a:p>
            <a:endParaRPr lang="en-US" dirty="0"/>
          </a:p>
        </p:txBody>
      </p:sp>
      <p:pic>
        <p:nvPicPr>
          <p:cNvPr id="4" name="Google Shape;171;p14">
            <a:extLst>
              <a:ext uri="{FF2B5EF4-FFF2-40B4-BE49-F238E27FC236}">
                <a16:creationId xmlns:a16="http://schemas.microsoft.com/office/drawing/2014/main" id="{5E75E303-513E-37B4-EDB9-6196E6A24C5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32571" y="113414"/>
            <a:ext cx="1578429" cy="10559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1469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1D355-A46B-C20A-359A-D03C801FF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 Deployment</a:t>
            </a:r>
            <a:b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2DE01-ED85-F151-F554-9589380B3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2586" y="1517400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Tool: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Docker packages the application and its dependencies into a container.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Image: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Contains the application code, required libraries, and configuration.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Container: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Runs the heart disease prediction application in an isolated environment.</a:t>
            </a:r>
          </a:p>
          <a:p>
            <a:pPr marL="11430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Benefits: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consistent runtime environment.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application setup and deployment.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portability across different systems.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dependency-related issues.</a:t>
            </a:r>
          </a:p>
          <a:p>
            <a:endParaRPr lang="en-US" dirty="0"/>
          </a:p>
        </p:txBody>
      </p:sp>
      <p:pic>
        <p:nvPicPr>
          <p:cNvPr id="4" name="Google Shape;171;p14">
            <a:extLst>
              <a:ext uri="{FF2B5EF4-FFF2-40B4-BE49-F238E27FC236}">
                <a16:creationId xmlns:a16="http://schemas.microsoft.com/office/drawing/2014/main" id="{71892448-4BCD-BC5A-5642-6E1EDB3BDDA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32571" y="113414"/>
            <a:ext cx="1578429" cy="10559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19161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7DA5E-D814-8FB3-3152-F48948A08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F9B1795-368D-1EF0-22DD-5461FC5AD4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99978" y="1520785"/>
            <a:ext cx="10421678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machine learning classification algorithms to predict heart disease from 13 patient-related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400 records, with no missing values or duplicate rows. It was divided into 320 training records and 80 testing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Four algorithms—Decision Tree, Random Forest, Logistic Regression, and SVM—were evaluated. Logistic Regression achieved 67.50% accuracy, while Random Forest achieved 75.00% recall on the test 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results demonstrate how classification models can analyze patient data. Further validation and clinical evaluation are necessary before any real-world medical use. The system is intended as an educational project and not as a replacement for professional diagnosis.</a:t>
            </a:r>
          </a:p>
        </p:txBody>
      </p:sp>
      <p:pic>
        <p:nvPicPr>
          <p:cNvPr id="7" name="Google Shape;171;p14">
            <a:extLst>
              <a:ext uri="{FF2B5EF4-FFF2-40B4-BE49-F238E27FC236}">
                <a16:creationId xmlns:a16="http://schemas.microsoft.com/office/drawing/2014/main" id="{EAAA0E9A-9D2E-C7A8-D9DA-95B75ED76BB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32571" y="113414"/>
            <a:ext cx="1578429" cy="10559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803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"/>
          <p:cNvSpPr txBox="1"/>
          <p:nvPr/>
        </p:nvSpPr>
        <p:spPr>
          <a:xfrm>
            <a:off x="903457" y="673906"/>
            <a:ext cx="103851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Queries ???</a:t>
            </a:r>
            <a:br>
              <a:rPr lang="en-IN" sz="800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1" name="Google Shape;17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32571" y="113414"/>
            <a:ext cx="1578429" cy="1055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1364</Words>
  <Application>Microsoft Office PowerPoint</Application>
  <PresentationFormat>Widescreen</PresentationFormat>
  <Paragraphs>148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Anta</vt:lpstr>
      <vt:lpstr>Arial</vt:lpstr>
      <vt:lpstr>Calibri</vt:lpstr>
      <vt:lpstr>Times New Roman</vt:lpstr>
      <vt:lpstr>Office Theme</vt:lpstr>
      <vt:lpstr>      Capstone Project 2 HEART DISEASE DETECTION USING CLASSIFICATION ALGORITHMS    </vt:lpstr>
      <vt:lpstr>PowerPoint Presentation</vt:lpstr>
      <vt:lpstr>Problem Statement</vt:lpstr>
      <vt:lpstr>Overview of the Project </vt:lpstr>
      <vt:lpstr>Data generation &amp; Loading </vt:lpstr>
      <vt:lpstr>Data Loading and Dataset Details</vt:lpstr>
      <vt:lpstr>Data Exploration and Understanding</vt:lpstr>
      <vt:lpstr>Exploratory Data Analysis </vt:lpstr>
      <vt:lpstr>Data Pre-processing &amp; Feature Engineering</vt:lpstr>
      <vt:lpstr>Model Building &amp; Training </vt:lpstr>
      <vt:lpstr>Model Evaluation &amp; Performance Analysis </vt:lpstr>
      <vt:lpstr>Streamlit API Deployment </vt:lpstr>
      <vt:lpstr>Docker Deployment 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2 HEART DISEASE DETECTION USING CLASSIFICATION ALGORITHMS</dc:title>
  <dc:creator>TNS INDIA FOUNDATION</dc:creator>
  <cp:lastModifiedBy>Saloni Jadhav</cp:lastModifiedBy>
  <cp:revision>1</cp:revision>
  <dcterms:created xsi:type="dcterms:W3CDTF">2025-09-02T04:26:51Z</dcterms:created>
  <dcterms:modified xsi:type="dcterms:W3CDTF">2026-10-19T07:00:46Z</dcterms:modified>
</cp:coreProperties>
</file>